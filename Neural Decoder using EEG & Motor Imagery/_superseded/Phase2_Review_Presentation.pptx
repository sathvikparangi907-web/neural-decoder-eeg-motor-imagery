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accuracy on BCI IV-2a (%)</c:v>
                </c:pt>
              </c:strCache>
            </c:strRef>
          </c:tx>
          <c:spPr>
            <a:solidFill>
              <a:srgbClr val="2E3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EEGNet</c:v>
                  </c:pt>
                  <c:pt idx="1">
                    <c:v>ShallowConvNet</c:v>
                  </c:pt>
                  <c:pt idx="2">
                    <c:v>EEG Conformer</c:v>
                  </c:pt>
                  <c:pt idx="3">
                    <c:v>ATCNet</c:v>
                  </c:pt>
                  <c:pt idx="4">
                    <c:v>CTNet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68.67</c:v>
                </c:pt>
                <c:pt idx="1">
                  <c:v>67.48</c:v>
                </c:pt>
                <c:pt idx="2">
                  <c:v>78.66</c:v>
                </c:pt>
                <c:pt idx="3">
                  <c:v>81.1</c:v>
                </c:pt>
                <c:pt idx="4">
                  <c:v>82.52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16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50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deliverable: methodology, architecture, models, datasets, tools, implementation plan, experimental plan. Builds on the literature survey from the 0th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statistic is the motivation for the entire project. It is from CTNet, one of the four papers we reviewed. Within-subject 82.52%, cross-subject 58.64%.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slide. At the 0th Review we answered 'Partially' on novelty. This is what replaces that — a specific, testable claim rather than 'we will investigate'.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we dropped SEED: it is an emotion dataset, not motor imagery. Including it would be a category error, not extra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this. The honest framing: we are not claiming a brand-new architecture. We are claiming a question the field has not answered and a rigorous way to answer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5289804"/>
          </a:xfrm>
          <a:prstGeom prst="ellipse">
            <a:avLst/>
          </a:prstGeom>
          <a:solidFill>
            <a:srgbClr val="2E3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609490"/>
            <a:ext cx="2834640" cy="3571646"/>
          </a:xfrm>
          <a:prstGeom prst="ellipse">
            <a:avLst/>
          </a:prstGeom>
          <a:solidFill>
            <a:srgbClr val="1D2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41094"/>
            <a:ext cx="82296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1ST REVIEW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59559"/>
            <a:ext cx="877824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Learning–Based Neural Decoder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858232"/>
            <a:ext cx="877824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EEG Motor Imagery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4091026"/>
            <a:ext cx="87782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Implementation Plan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782312"/>
            <a:ext cx="1371600" cy="40325"/>
          </a:xfrm>
          <a:prstGeom prst="rect">
            <a:avLst/>
          </a:prstGeom>
          <a:solidFill>
            <a:srgbClr val="00BF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093391"/>
            <a:ext cx="877824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review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6738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2051731"/>
            <a:ext cx="2167128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35631"/>
            <a:ext cx="2167128" cy="109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+ literature survey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3595604"/>
            <a:ext cx="21671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 – 8 Sep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" y="4021897"/>
            <a:ext cx="1371600" cy="368686"/>
          </a:xfrm>
          <a:prstGeom prst="roundRect">
            <a:avLst>
              <a:gd name="adj" fmla="val 39683"/>
            </a:avLst>
          </a:prstGeom>
          <a:solidFill>
            <a:srgbClr val="DDE3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4021897"/>
            <a:ext cx="137160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74136" y="1786738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051731"/>
            <a:ext cx="2167128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535631"/>
            <a:ext cx="2167128" cy="109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+ implementation plan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595604"/>
            <a:ext cx="21671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15 Sep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93592" y="4021897"/>
            <a:ext cx="1371600" cy="368686"/>
          </a:xfrm>
          <a:prstGeom prst="roundRect">
            <a:avLst>
              <a:gd name="adj" fmla="val 39683"/>
            </a:avLst>
          </a:prstGeom>
          <a:solidFill>
            <a:srgbClr val="00BF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93592" y="4021897"/>
            <a:ext cx="137160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1344" y="1786738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051731"/>
            <a:ext cx="2167128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35631"/>
            <a:ext cx="2167128" cy="109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train, evaluate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595604"/>
            <a:ext cx="21671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 – 3 Oct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4021897"/>
            <a:ext cx="1371600" cy="368686"/>
          </a:xfrm>
          <a:prstGeom prst="roundRect">
            <a:avLst>
              <a:gd name="adj" fmla="val 39683"/>
            </a:avLst>
          </a:prstGeom>
          <a:solidFill>
            <a:srgbClr val="DDE3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4021897"/>
            <a:ext cx="137160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88552" y="1786738"/>
            <a:ext cx="2606040" cy="2880360"/>
          </a:xfrm>
          <a:prstGeom prst="roundRect">
            <a:avLst>
              <a:gd name="adj" fmla="val 315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08008" y="2051731"/>
            <a:ext cx="2167128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208008" y="2535631"/>
            <a:ext cx="2167128" cy="109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+ final submission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08008" y="3595604"/>
            <a:ext cx="216712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 Oct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093391"/>
            <a:ext cx="11027664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0th Review established the problem and surveyed four architectures. This review commits to a specific method, a testable hypothesis, and a dated plan to produce results by 3 October.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IN ONE NUMBER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671523"/>
            <a:ext cx="3200400" cy="1324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82.52%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054096"/>
            <a:ext cx="32004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people it was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01952"/>
            <a:ext cx="914400" cy="979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71523"/>
            <a:ext cx="3200400" cy="1324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58.64%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3054096"/>
            <a:ext cx="320040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person 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met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671523"/>
            <a:ext cx="3364992" cy="2246681"/>
          </a:xfrm>
          <a:prstGeom prst="roundRect">
            <a:avLst>
              <a:gd name="adj" fmla="val 3663"/>
            </a:avLst>
          </a:prstGeom>
          <a:solidFill>
            <a:srgbClr val="1D2050"/>
          </a:solidFill>
          <a:ln w="12700">
            <a:solidFill>
              <a:srgbClr val="1D20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49056" y="1936516"/>
            <a:ext cx="2926080" cy="829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−23.88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8449056" y="2789103"/>
            <a:ext cx="2926080" cy="979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 lost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dataset,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test subject changed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667098"/>
            <a:ext cx="11027664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decoder that scores 82% on people it has met and 59% on a stranger is not a deployable assistive device. A patient cannot be asked to supply hours of labelled calibration data before their wheelchair responds.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934456"/>
            <a:ext cx="1102766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CTNet, BCI Competition IV-2a, 4-class motor imagery.  Source: Zhao et al., Scientific Reports 14:20237 (2024).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that pull against each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6738"/>
            <a:ext cx="3529584" cy="2246681"/>
          </a:xfrm>
          <a:prstGeom prst="roundRect">
            <a:avLst>
              <a:gd name="adj" fmla="val 366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74774"/>
            <a:ext cx="384048" cy="483900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074774"/>
            <a:ext cx="384048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19974"/>
            <a:ext cx="3054096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57789"/>
            <a:ext cx="3054096" cy="76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subjects never seen during training — not just on the people in the training 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786738"/>
            <a:ext cx="3529584" cy="2246681"/>
          </a:xfrm>
          <a:prstGeom prst="roundRect">
            <a:avLst>
              <a:gd name="adj" fmla="val 366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74774"/>
            <a:ext cx="384048" cy="483900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2074774"/>
            <a:ext cx="384048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19974"/>
            <a:ext cx="3054096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157789"/>
            <a:ext cx="3054096" cy="76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run on low-power assistive hardware with low latency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65008" y="1786738"/>
            <a:ext cx="3529584" cy="2246681"/>
          </a:xfrm>
          <a:prstGeom prst="roundRect">
            <a:avLst>
              <a:gd name="adj" fmla="val 366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074774"/>
            <a:ext cx="384048" cy="483900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074774"/>
            <a:ext cx="384048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719974"/>
            <a:ext cx="3054096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lengthy calibration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157789"/>
            <a:ext cx="3054096" cy="760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without hours of labelled data from each new user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332976"/>
            <a:ext cx="11027664" cy="1636044"/>
          </a:xfrm>
          <a:prstGeom prst="roundRect">
            <a:avLst>
              <a:gd name="adj" fmla="val 5030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540362"/>
            <a:ext cx="1047902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unresolved question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909048"/>
            <a:ext cx="1047902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architectures close the cross-subject gap by adding capacity — attention layers, transformer depth, larger parameter counts — which works against constraints 2 and 3. Nobody has established whether the gain comes from architectural capacity, or from making the input representation subject-invariant in the first place.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24705"/>
            <a:ext cx="4023360" cy="5069434"/>
          </a:xfrm>
          <a:prstGeom prst="ellipse">
            <a:avLst/>
          </a:prstGeom>
          <a:solidFill>
            <a:srgbClr val="1A1D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858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43000"/>
            <a:ext cx="109728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44345"/>
            <a:ext cx="10424160" cy="1843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Subject-invariance at the input contributes more to cross-subject decoding than an equivalent increase in model capacity — and the two are complementary, not redundant.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033418"/>
            <a:ext cx="68580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4033418"/>
            <a:ext cx="9692640" cy="82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attention matches full self-attention under LOSO with fewer parameters — unconstrained capacity overfits subject-specific structure on ~2,600 trials.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24262"/>
            <a:ext cx="68580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5024262"/>
            <a:ext cx="9692640" cy="82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alignment reduces the number of labelled trials a new user must supply to reach a fixed accuracy.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934456"/>
            <a:ext cx="104241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hypothesis here is falsifiable by a specific experiment in Section 8. If H1 is wrong, that is a reportable finding — it would tell the field that architectural scaling is the productive direction.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59559"/>
            <a:ext cx="2048256" cy="2822753"/>
          </a:xfrm>
          <a:prstGeom prst="roundRect">
            <a:avLst>
              <a:gd name="adj" fmla="val 401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213031"/>
            <a:ext cx="365760" cy="460858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213031"/>
            <a:ext cx="365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35189"/>
            <a:ext cx="164592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273003"/>
            <a:ext cx="164592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epochs,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channels,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artefacts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07208" y="1959559"/>
            <a:ext cx="2048256" cy="2822753"/>
          </a:xfrm>
          <a:prstGeom prst="roundRect">
            <a:avLst>
              <a:gd name="adj" fmla="val 4018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8376" y="2213031"/>
            <a:ext cx="365760" cy="460858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8376" y="2213031"/>
            <a:ext cx="365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2835189"/>
            <a:ext cx="164592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3273003"/>
            <a:ext cx="164592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4–38 Hz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Alignment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1959559"/>
            <a:ext cx="2048256" cy="2822753"/>
          </a:xfrm>
          <a:prstGeom prst="roundRect">
            <a:avLst>
              <a:gd name="adj" fmla="val 4018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213031"/>
            <a:ext cx="365760" cy="460858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8656" y="2213031"/>
            <a:ext cx="365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835189"/>
            <a:ext cx="164592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273003"/>
            <a:ext cx="164592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temporal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attention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87768" y="1959559"/>
            <a:ext cx="2048256" cy="2822753"/>
          </a:xfrm>
          <a:prstGeom prst="roundRect">
            <a:avLst>
              <a:gd name="adj" fmla="val 401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213031"/>
            <a:ext cx="365760" cy="460858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88936" y="2213031"/>
            <a:ext cx="365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835189"/>
            <a:ext cx="164592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3273003"/>
            <a:ext cx="164592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28048" y="1959559"/>
            <a:ext cx="2048256" cy="2822753"/>
          </a:xfrm>
          <a:prstGeom prst="roundRect">
            <a:avLst>
              <a:gd name="adj" fmla="val 401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9216" y="2213031"/>
            <a:ext cx="365760" cy="460858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29216" y="2213031"/>
            <a:ext cx="3657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29216" y="2835189"/>
            <a:ext cx="164592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729216" y="3273003"/>
            <a:ext cx="1645920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093391"/>
            <a:ext cx="1102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and 3 carry the contribution. Stage 2 removes subject-specific covariance before the network ever sees the data; stage 3 is the lightweight hybrid encoder.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SAND-Net: every component traces to a paper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1027664" cy="35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Subject-Agnostic Neural Decoder — nothing is included because it appeared in a paper; each component must earn its place in the ablation.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6088"/>
          <a:ext cx="1102766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5266944"/>
              </a:tblGrid>
              <a:tr h="3917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from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&amp; Wu (2020)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subject covariance shift — unsupervised, needs no target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Depthwise-separable 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 (2018)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CSP-like spatial filters at very low parameter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 dilated conv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ATCNet (2023) / CTNet (2024)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 and beta rhythms evolve on different timescales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Windowed self-attention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 (2023)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Long-range dependency without O(T²) cost or overfitting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+ adversarial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Domain-generalisation lit.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Forces class structure to be shared across subjects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</a:tr>
              <a:tr h="518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Activation Topography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 Conformer (2023)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contribution per class, for physiological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819242"/>
            <a:ext cx="1102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row: the one addition none of the four reviewed architectures has. Target budget under 50,000 parameters — between ShallowConvNet (47,364) and ATCNet (113,732).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ALIGNMENT, NOT JUST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calibration-free mechanism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71523"/>
            <a:ext cx="5303520" cy="2477110"/>
          </a:xfrm>
          <a:prstGeom prst="roundRect">
            <a:avLst>
              <a:gd name="adj" fmla="val 3322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01952"/>
            <a:ext cx="4754880" cy="368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Alignment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20417"/>
            <a:ext cx="47548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21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 · Σ X</a:t>
            </a:r>
            <a:pPr indent="0" marL="0">
              <a:buNone/>
            </a:pPr>
            <a:r>
              <a:rPr lang="en-US" sz="21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</a:t>
            </a:r>
            <a:pPr indent="0" marL="0">
              <a:buNone/>
            </a:pPr>
            <a:r>
              <a:rPr lang="en-US" sz="21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ᵀ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19532"/>
            <a:ext cx="475488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X̃</a:t>
            </a:r>
            <a:pPr indent="0" marL="0">
              <a:buNone/>
            </a:pPr>
            <a:r>
              <a:rPr lang="en-US" sz="2100" baseline="-400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21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R</a:t>
            </a:r>
            <a:pPr indent="0" marL="0">
              <a:buNone/>
            </a:pPr>
            <a:r>
              <a:rPr lang="en-US" sz="2100" baseline="-400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pPr indent="0" marL="0">
              <a:buNone/>
            </a:pPr>
            <a:r>
              <a:rPr lang="en-US" sz="2100" baseline="300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−1/2</a:t>
            </a:r>
            <a:pPr indent="0" marL="0">
              <a:buNone/>
            </a:pPr>
            <a:r>
              <a:rPr lang="en-US" sz="21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</a:t>
            </a:r>
            <a:pPr indent="0" marL="0">
              <a:buNone/>
            </a:pPr>
            <a:r>
              <a:rPr lang="en-US" sz="2100" baseline="-40000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595604"/>
            <a:ext cx="4754880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transform, every subject's mean covariance equals the identity matrix.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44768" y="1671523"/>
            <a:ext cx="5449824" cy="725851"/>
          </a:xfrm>
          <a:prstGeom prst="roundRect">
            <a:avLst>
              <a:gd name="adj" fmla="val 1133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1740652"/>
            <a:ext cx="1572768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2017166"/>
            <a:ext cx="50292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only unlabelled trials from the new user — never their labels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2524110"/>
            <a:ext cx="5449824" cy="725851"/>
          </a:xfrm>
          <a:prstGeom prst="roundRect">
            <a:avLst>
              <a:gd name="adj" fmla="val 1133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2593238"/>
            <a:ext cx="1572768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free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2869753"/>
            <a:ext cx="50292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eigendecomposition of a 22×22 matrix; negligible against a forward pass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3376696"/>
            <a:ext cx="5449824" cy="725851"/>
          </a:xfrm>
          <a:prstGeom prst="roundRect">
            <a:avLst>
              <a:gd name="adj" fmla="val 11338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5936" y="3445825"/>
            <a:ext cx="1572768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722340"/>
            <a:ext cx="50292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records a minute of unlabelled imagery; the matrix is computed from 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494276"/>
            <a:ext cx="11027664" cy="1209751"/>
          </a:xfrm>
          <a:prstGeom prst="roundRect">
            <a:avLst>
              <a:gd name="adj" fmla="val 6803"/>
            </a:avLst>
          </a:prstGeom>
          <a:solidFill>
            <a:srgbClr val="DFF5F6"/>
          </a:solidFill>
          <a:ln w="12700">
            <a:solidFill>
              <a:srgbClr val="DFF5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701662"/>
            <a:ext cx="10479024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"without lengthy calibration" operational rather than aspirational. Most recent work attacks subject variability inside the network. We attack it before the network sees the data — and then test, in the ablation, which of the two actually matters.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&amp; Wu, IEEE TBME 67(2):399–410, 2020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motor imagery datasets, tiered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29130"/>
            <a:ext cx="3529584" cy="2995574"/>
          </a:xfrm>
          <a:prstGeom prst="roundRect">
            <a:avLst>
              <a:gd name="adj" fmla="val 2747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959559"/>
            <a:ext cx="1298448" cy="345643"/>
          </a:xfrm>
          <a:prstGeom prst="roundRect">
            <a:avLst>
              <a:gd name="adj" fmla="val 39683"/>
            </a:avLst>
          </a:prstGeom>
          <a:solidFill>
            <a:srgbClr val="00BF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959559"/>
            <a:ext cx="129844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43460"/>
            <a:ext cx="3090672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BCI Competition IV-2a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904317"/>
            <a:ext cx="3090672" cy="89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subjects · 22 channels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· 250 Hz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trials/subject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849075"/>
            <a:ext cx="3090672" cy="71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all four reviewed papers — lets us sanity-check reproduced baselines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729130"/>
            <a:ext cx="3529584" cy="2995574"/>
          </a:xfrm>
          <a:prstGeom prst="roundRect">
            <a:avLst>
              <a:gd name="adj" fmla="val 2747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959559"/>
            <a:ext cx="1298448" cy="345643"/>
          </a:xfrm>
          <a:prstGeom prst="roundRect">
            <a:avLst>
              <a:gd name="adj" fmla="val 39683"/>
            </a:avLst>
          </a:prstGeom>
          <a:solidFill>
            <a:srgbClr val="2E3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35424" y="1959559"/>
            <a:ext cx="129844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2443460"/>
            <a:ext cx="3090672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BCI Competition IV-2b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904317"/>
            <a:ext cx="3090672" cy="89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subjects · 3 channels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 · 250 Hz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trials/subject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3849075"/>
            <a:ext cx="3090672" cy="71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C3, Cz, C4 — tests survival under drastic loss of spatial information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65008" y="1729130"/>
            <a:ext cx="3529584" cy="2995574"/>
          </a:xfrm>
          <a:prstGeom prst="roundRect">
            <a:avLst>
              <a:gd name="adj" fmla="val 2747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959559"/>
            <a:ext cx="1298448" cy="345643"/>
          </a:xfrm>
          <a:prstGeom prst="roundRect">
            <a:avLst>
              <a:gd name="adj" fmla="val 39683"/>
            </a:avLst>
          </a:prstGeom>
          <a:solidFill>
            <a:srgbClr val="9AA3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84464" y="1959559"/>
            <a:ext cx="129844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2443460"/>
            <a:ext cx="3090672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Gamma Dataset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904317"/>
            <a:ext cx="3090672" cy="89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subjects · 128 channels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· 500 Hz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~880 trials/subject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3849075"/>
            <a:ext cx="3090672" cy="714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generalisation test; attempted only if the schedule allows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978176"/>
            <a:ext cx="11027664" cy="1209751"/>
          </a:xfrm>
          <a:prstGeom prst="roundRect">
            <a:avLst>
              <a:gd name="adj" fmla="val 6803"/>
            </a:avLst>
          </a:prstGeom>
          <a:solidFill>
            <a:srgbClr val="FFEFE9"/>
          </a:solidFill>
          <a:ln w="12700">
            <a:solidFill>
              <a:srgbClr val="FFEF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162520"/>
            <a:ext cx="10479024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is deliberately excluded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485120"/>
            <a:ext cx="10479024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Conformer also evaluates on SEED, but SEED is emotion recognition — participants watch film clips and the label is positive / neutral / negative. It contains no motor imagery and no movement labels. Training jointly across two unrelated label spaces would measure nothing about motor intent decoding.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numbers cannot be ranked against each other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36959"/>
          <a:ext cx="6126480" cy="385968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06088"/>
            <a:ext cx="4690872" cy="967801"/>
          </a:xfrm>
          <a:prstGeom prst="roundRect">
            <a:avLst>
              <a:gd name="adj" fmla="val 850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95744" y="1798259"/>
            <a:ext cx="429768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protocols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95744" y="2086295"/>
            <a:ext cx="4297680" cy="52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Hold-out, 5-fold, session-based and subject-specific splits all appear in this chart.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03720" y="2800624"/>
            <a:ext cx="4690872" cy="967801"/>
          </a:xfrm>
          <a:prstGeom prst="roundRect">
            <a:avLst>
              <a:gd name="adj" fmla="val 850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95744" y="2892796"/>
            <a:ext cx="429768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two figures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95744" y="3180832"/>
            <a:ext cx="4297680" cy="52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is quoted at 68.67% by the ATCNet authors and 71.50% by another — same model, same dataset.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03720" y="3895161"/>
            <a:ext cx="4690872" cy="967801"/>
          </a:xfrm>
          <a:prstGeom prst="roundRect">
            <a:avLst>
              <a:gd name="adj" fmla="val 8503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95744" y="3987333"/>
            <a:ext cx="429768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within-subject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95744" y="4275369"/>
            <a:ext cx="4297680" cy="52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cross-subject numbers. The cross-subject picture is much lower.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0" y="4989698"/>
            <a:ext cx="4690872" cy="1036930"/>
          </a:xfrm>
          <a:prstGeom prst="roundRect">
            <a:avLst>
              <a:gd name="adj" fmla="val 7937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95744" y="5127955"/>
            <a:ext cx="429768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 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095744" y="5415991"/>
            <a:ext cx="4297680" cy="529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all four under one identical LOSO protocol. That comparison does not exist in the literature.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Accuracies as reported by each paper's authors under their own evaluation protocol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PROTOCOL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Leave-one-subject-out, with a held-out validation subject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2173"/>
          <a:ext cx="6035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743200"/>
                <a:gridCol w="1371600"/>
                <a:gridCol w="1188720"/>
              </a:tblGrid>
              <a:tr h="4147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(7 subjects)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</a:tr>
              <a:tr h="48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– S9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S1, S4 – S9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8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– S7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50800" marB="508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356019"/>
            <a:ext cx="603504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figure is the mean and standard deviation across all 9 folds.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812280" y="1752173"/>
            <a:ext cx="4782312" cy="1728216"/>
          </a:xfrm>
          <a:prstGeom prst="roundRect">
            <a:avLst>
              <a:gd name="adj" fmla="val 4762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022592" y="1936516"/>
            <a:ext cx="438912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validation SUBJECT, not a validation split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022592" y="2305202"/>
            <a:ext cx="4389120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on trials from subjects that also appear in training selects hyperparameters that favour within-subject fit — exactly the behaviour we are trying to avoid.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12280" y="3641689"/>
            <a:ext cx="4782312" cy="1728216"/>
          </a:xfrm>
          <a:prstGeom prst="roundRect">
            <a:avLst>
              <a:gd name="adj" fmla="val 4762"/>
            </a:avLst>
          </a:prstGeom>
          <a:solidFill>
            <a:srgbClr val="FFEFE9"/>
          </a:solidFill>
          <a:ln w="12700">
            <a:solidFill>
              <a:srgbClr val="FFEF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22592" y="3826032"/>
            <a:ext cx="438912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control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022592" y="4194719"/>
            <a:ext cx="4389120" cy="1094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statistics, augmentation and hyperparameter choices come only from training and validation subjects. The test subject contributes unlabelled trials to alignment — the same information a real deployment would have.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5704027"/>
            <a:ext cx="110276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 (mean ± std), Cohen's kappa, macro-F1, confusion matrix, parameters / FLOPs / latency, and a Wilcoxon signed-rank test paired across the 9 subjects at α = 0.05.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ablation is the experiment that tests H1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6088"/>
          <a:ext cx="68580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48640"/>
                <a:gridCol w="960120"/>
                <a:gridCol w="868680"/>
                <a:gridCol w="777240"/>
                <a:gridCol w="640080"/>
                <a:gridCol w="2560320"/>
              </a:tblGrid>
              <a:tr h="3686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Wind. attn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this row 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EEGNet-equivalent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+ multi-scale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architecture, no DG losses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contrastive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adversarial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6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SAND-Net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06088"/>
            <a:ext cx="3913632" cy="875629"/>
          </a:xfrm>
          <a:prstGeom prst="roundRect">
            <a:avLst>
              <a:gd name="adj" fmla="val 9399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775216"/>
            <a:ext cx="35661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vs A2 vs A3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040209"/>
            <a:ext cx="356616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test of H1. A2 isolates alignment with no added capacity; A3 isolates capacity with no alignment.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2696931"/>
            <a:ext cx="3913632" cy="875629"/>
          </a:xfrm>
          <a:prstGeom prst="roundRect">
            <a:avLst>
              <a:gd name="adj" fmla="val 9399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766060"/>
            <a:ext cx="35661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vs A5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031053"/>
            <a:ext cx="356616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alignment still help once the architecture is already strong?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80960" y="3687775"/>
            <a:ext cx="3913632" cy="875629"/>
          </a:xfrm>
          <a:prstGeom prst="roundRect">
            <a:avLst>
              <a:gd name="adj" fmla="val 9399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3756904"/>
            <a:ext cx="35661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vs A6 / A7 / A8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021897"/>
            <a:ext cx="356616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domain-generalisation losses complementary to input alignment, or redundant with it?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4678619"/>
            <a:ext cx="3913632" cy="875629"/>
          </a:xfrm>
          <a:prstGeom prst="roundRect">
            <a:avLst>
              <a:gd name="adj" fmla="val 9399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747748"/>
            <a:ext cx="35661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vs A5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5012741"/>
            <a:ext cx="356616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windowed attention earn its parameters?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819242"/>
            <a:ext cx="1102766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configuration runs over all 9 LOSO folds — 72 training runs. If A2 − A1 &gt; A3 − A1, H1 is supported.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experiments the reviewed papers do not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29130"/>
            <a:ext cx="5358384" cy="3917290"/>
          </a:xfrm>
          <a:prstGeom prst="roundRect">
            <a:avLst>
              <a:gd name="adj" fmla="val 2101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05645"/>
            <a:ext cx="402336" cy="506943"/>
          </a:xfrm>
          <a:prstGeom prst="ellipse">
            <a:avLst/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05645"/>
            <a:ext cx="402336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73888"/>
            <a:ext cx="4809744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efficiency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57789"/>
            <a:ext cx="4809744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LOSO training, fine-tune on n labelled trials from the held-out subject for n = 0, 5, 10, 20, 40, 80 and plot accuracy against 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102547"/>
            <a:ext cx="48097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becomes usable at n = 10 is far more deployable than one needing n = 80 — even if their accuracies at n = 80 are identical. This is the figure tied most directly to the clinical motivation.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729130"/>
            <a:ext cx="5358384" cy="3917290"/>
          </a:xfrm>
          <a:prstGeom prst="roundRect">
            <a:avLst>
              <a:gd name="adj" fmla="val 2101"/>
            </a:avLst>
          </a:prstGeom>
          <a:solidFill>
            <a:srgbClr val="14163A"/>
          </a:solidFill>
          <a:ln w="12700">
            <a:solidFill>
              <a:srgbClr val="1416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2005645"/>
            <a:ext cx="402336" cy="506943"/>
          </a:xfrm>
          <a:prstGeom prst="ellipse">
            <a:avLst/>
          </a:prstGeom>
          <a:solidFill>
            <a:srgbClr val="00BFC9"/>
          </a:solidFill>
          <a:ln w="12700">
            <a:solidFill>
              <a:srgbClr val="00BF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0528" y="2005645"/>
            <a:ext cx="402336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673888"/>
            <a:ext cx="4809744" cy="4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Neurophysiological validation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3157789"/>
            <a:ext cx="4809744" cy="92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imagery produces event-related desynchronisation contralateral to the imagined limb: left-hand imagery suppresses mu rhythm near C4, right-hand near C3.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171676"/>
            <a:ext cx="480974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contralateral peaks at C3 / C4: the model learned real physiology.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4632533"/>
            <a:ext cx="4809744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frontal or symmetric peaks: the model is reading ocular or muscular artefacts, and the accuracy figure is not measuring motor intent regardless of how high it is.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899892"/>
            <a:ext cx="11027664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here is a correctness check, not a presentation aid. It has a real failure mode and we will report the result either way.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18 days to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6309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4F7FC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6309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16–17 Sep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048256" y="1556309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21808" y="1556309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downloading; EDA plots produced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132381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32381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18–19 Sep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048256" y="2132381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alignment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2132381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tensors; alignment verified (covariance ≈ identity)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708453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4F7FC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08453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20–22 Sep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048256" y="2708453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within-subject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708453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EEGNet and Conformer reproduce published accuracy within ±3 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284525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284525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23–25 Sep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048256" y="3284525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harness + all baselines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3284525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9-fold LOSO results for all five baselines on IV-2a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860597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4F7FC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60597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26–28 Sep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048256" y="3860597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SAND-Net implementation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21808" y="3860597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end to end; parameter count under 50k confirmed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436669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FFFFF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436669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29–30 Sep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048256" y="4436669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4436669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configurations × 9 folds complete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012741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F4F7FC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012741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Oct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048256" y="5012741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IV-2b, calibration, interpretability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321808" y="5012741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results; topographies; calibration figure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588813"/>
            <a:ext cx="11027664" cy="506943"/>
          </a:xfrm>
          <a:prstGeom prst="roundRect">
            <a:avLst>
              <a:gd name="adj" fmla="val 10823"/>
            </a:avLst>
          </a:prstGeom>
          <a:solidFill>
            <a:srgbClr val="DFF5F6"/>
          </a:solidFill>
          <a:ln w="635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588813"/>
            <a:ext cx="12344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048256" y="5588813"/>
            <a:ext cx="320040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→ 2nd Review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21808" y="5588813"/>
            <a:ext cx="6035040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tables, figures and significance tests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245535"/>
            <a:ext cx="11027664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 deliberately: the pipeline and baselines must work before the proposed model is written. A proposed model evaluated on a broken pipeline is worthless.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is only credible if it fits the GPU budget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13916"/>
            <a:ext cx="530352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estimate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7166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463040"/>
              </a:tblGrid>
              <a:tr h="3686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3A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Baselines, LOSO, IV-2a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SAND-Net, LOSO, IV-2a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1.2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Ablation, 8 configs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9.6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IV-2b, all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2.7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curve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1.8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80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26 GPU-hours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18556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provides roughly 30 GPU-hours per week, so this fits — provided preprocessing is cached and every run is checkpointed.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13916"/>
            <a:ext cx="528523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with the response already decided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2028688"/>
            <a:ext cx="5285232" cy="783458"/>
          </a:xfrm>
          <a:prstGeom prst="roundRect">
            <a:avLst>
              <a:gd name="adj" fmla="val 10504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086295"/>
            <a:ext cx="493776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exceeds GPU hours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374331"/>
            <a:ext cx="493776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tensors, mixed precision, drop the High Gamma tier first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2927360"/>
            <a:ext cx="5285232" cy="783458"/>
          </a:xfrm>
          <a:prstGeom prst="roundRect">
            <a:avLst>
              <a:gd name="adj" fmla="val 10504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984967"/>
            <a:ext cx="493776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miss published accuracy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3273003"/>
            <a:ext cx="493776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Braindecode / official repos; report both figures and explain the gap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09360" y="3826032"/>
            <a:ext cx="5285232" cy="783458"/>
          </a:xfrm>
          <a:prstGeom prst="roundRect">
            <a:avLst>
              <a:gd name="adj" fmla="val 10504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3883640"/>
            <a:ext cx="493776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171676"/>
            <a:ext cx="493776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every epoch; resumable trainer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4724705"/>
            <a:ext cx="5285232" cy="783458"/>
          </a:xfrm>
          <a:prstGeom prst="roundRect">
            <a:avLst>
              <a:gd name="adj" fmla="val 10504"/>
            </a:avLst>
          </a:prstGeom>
          <a:solidFill>
            <a:srgbClr val="EDF1F9"/>
          </a:solidFill>
          <a:ln w="12700">
            <a:solidFill>
              <a:srgbClr val="EDF1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4782312"/>
            <a:ext cx="4937760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SAND-Net does not beat baselines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070348"/>
            <a:ext cx="4937760" cy="391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ablation still answers H1 — a negative result is a valid finding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643737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Methodology and Implementation Plan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55134"/>
            <a:ext cx="3840480" cy="4839005"/>
          </a:xfrm>
          <a:prstGeom prst="ellipse">
            <a:avLst/>
          </a:prstGeom>
          <a:solidFill>
            <a:srgbClr val="1A1D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2179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 ON 3 OCTOBER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987552"/>
            <a:ext cx="11027664" cy="54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criteria, fixed in advance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2688336" cy="2592324"/>
          </a:xfrm>
          <a:prstGeom prst="roundRect">
            <a:avLst>
              <a:gd name="adj" fmla="val 3175"/>
            </a:avLst>
          </a:prstGeom>
          <a:solidFill>
            <a:srgbClr val="1D2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43902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70%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881274"/>
            <a:ext cx="228600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accuracy on IV-2a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388218"/>
            <a:ext cx="228600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LOSO studies place EEGNet and Conformer at 68–70%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901952"/>
            <a:ext cx="2688336" cy="2592324"/>
          </a:xfrm>
          <a:prstGeom prst="roundRect">
            <a:avLst>
              <a:gd name="adj" fmla="val 3175"/>
            </a:avLst>
          </a:prstGeom>
          <a:solidFill>
            <a:srgbClr val="1D2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2143902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50k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881274"/>
            <a:ext cx="228600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388218"/>
            <a:ext cx="228600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ShallowConvNet (47,364), well below ATCNet (113,732)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91072" y="1901952"/>
            <a:ext cx="2688336" cy="2592324"/>
          </a:xfrm>
          <a:prstGeom prst="roundRect">
            <a:avLst>
              <a:gd name="adj" fmla="val 3175"/>
            </a:avLst>
          </a:prstGeom>
          <a:solidFill>
            <a:srgbClr val="1D2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143902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81274"/>
            <a:ext cx="228600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trials to calibrate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388218"/>
            <a:ext cx="228600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points of subject-specific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53144" y="1901952"/>
            <a:ext cx="2688336" cy="2592324"/>
          </a:xfrm>
          <a:prstGeom prst="roundRect">
            <a:avLst>
              <a:gd name="adj" fmla="val 3175"/>
            </a:avLst>
          </a:prstGeom>
          <a:solidFill>
            <a:srgbClr val="1D2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54312" y="2143902"/>
            <a:ext cx="228600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0.05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354312" y="2881274"/>
            <a:ext cx="2286000" cy="48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354312" y="3388218"/>
            <a:ext cx="2286000" cy="94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across the 9 subjects — the test Conformer uses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816876"/>
            <a:ext cx="11027664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novelty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185562"/>
            <a:ext cx="1060704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0th Review answered “Partially”. That investigation is now complete. The contribution is not a combination of existing techniques — it is the first evaluation of all four architectures under one identical LOSO protocol, a controlled test of whether input alignment or architectural capacity drives cross-subject decoding, and a calibration-efficiency characterisation stating how much labelled data a new user actually needs. The last two are questions the reviewed literature does not answer, and both yield a useful result whichever way they resolve.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2026-09-14T16:05:56Z</dcterms:created>
  <dcterms:modified xsi:type="dcterms:W3CDTF">2026-09-14T16:05:56Z</dcterms:modified>
</cp:coreProperties>
</file>