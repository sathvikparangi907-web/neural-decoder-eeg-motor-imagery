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presents the solution design: how the literature survey from Phase 1 becomes a concrete, implementable project plan. Fill in team, guide and course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difficulties: noise, data scarcity, and subject variability. The third is the one this project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papers form a progression: CNN, then CNN with attention and temporal convolution, then CNN with a Transformer encoder. Capability rose, and so did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CTNet is the clearest illustration: 82.52 per cent within subject, 58.64 per cent on an unseen subject. Nearly twenty-four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objectives. The seventh, on the purple band, is the honesty commitment: a negative result is still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subjects, four classes, 576 trials each. Small by deep learning standards, which is why regularisation and augmentation are necessary rather than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shaded stages are the learned components. Everything else is fixed signal processing or output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stages. Highlighted ones are where the technical work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point to make aloud: the published numbers use different protocols. EEGNet is 68.67 per cent in the ATCNet repository's evaluation and 77.39 per cent in the CTNet paper's re-implementation, for the same model on the same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table is the only published comparison of these architectures under one cross-subject protocol that we could verify, so it is our reference. The right-hand figures are all within-subject and come from different evaluations: the same EEGNet scores 68.67 per cent in one and 77.39 per cent in another. An EEGNet figure of 71.50 per cent and a claim that EEGNet and Conformer reach 68 to 70 per cent under leave-one-subject-out appeared in earlier material; neither has a verifiable source, and the second was the within-subject 68.67 per cent mislabelled.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folds. Seven training subjects, one validation subject, one test subject. The validation subject is held out too, which matters for honest hyperparameter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explicitly: nothing on the left has been measured. The novelty claim is modest and deliberate — a careful comparative study plus a concrete lightweight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The point of Phase 2 is that the survey has become a concrete plan that fits the remaining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61520" cy="54864"/>
          </a:xfrm>
          <a:prstGeom prst="rect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3444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THEORY–BASED PRACTICAL WORK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3619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Solution Design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Cross-Subject Motor Imagery EEG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889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using Deep Learning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84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convolutional–Transformer approach evaluated on unseen subjects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Names and registration numbers 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764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faculty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47640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and designation 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093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5093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Course code and title 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22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70048" y="5422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imagined movement from scalp EEG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person imagines moving a limb, the sensorimotor cortex shows a measurable drop in mu-band power on the opposite side of the head. The task is to recover which movement was imagined from that signal.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97510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signal-to-noise ratio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6771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Cortical activity is attenuated by the skull and scalp, and is mixed with eye, muscle and mains interference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6824" y="1847088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7992" y="197510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high-dimensional data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26771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four-second trial holds over twenty thousand samples, but each subject provides only a few hundred labelled trials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47088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7888" y="197510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between people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26771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shape, electrode placement and mental strategy differ, so feature distributions shift from subject to subject</a:t>
            </a:r>
            <a:endParaRPr lang="en-US" sz="1100" dirty="0"/>
          </a:p>
        </p:txBody>
      </p:sp>
      <p:pic>
        <p:nvPicPr>
          <p:cNvPr id="15" name="Image 0" descr="fig/f_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3401568"/>
            <a:ext cx="8595360" cy="28325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compact CNNs to convolutional–Transformer hybrids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Image 0" descr="fig/f_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11027664" cy="35194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165387"/>
            <a:ext cx="5422392" cy="1097280"/>
          </a:xfrm>
          <a:prstGeom prst="roundRect">
            <a:avLst>
              <a:gd name="adj" fmla="val 5833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5302547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5604299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added a better way to relate information across the whole trial, rather than only within a short window.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5165387"/>
            <a:ext cx="5422392" cy="1097280"/>
          </a:xfrm>
          <a:prstGeom prst="roundRect">
            <a:avLst>
              <a:gd name="adj" fmla="val 5833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1656" y="5302547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91656" y="5604299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counts rose from roughly two thousand to over one hundred thousand, and the data requirement rose with them.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limitations common to the surveyed work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989320" cy="676656"/>
          </a:xfrm>
          <a:prstGeom prst="roundRect">
            <a:avLst>
              <a:gd name="adj" fmla="val 9459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536192"/>
            <a:ext cx="347472" cy="347472"/>
          </a:xfrm>
          <a:prstGeom prst="ellipse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37160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generalisation remains difficult; accuracy falls when the test subject is unseen.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5989320" cy="676656"/>
          </a:xfrm>
          <a:prstGeom prst="roundRect">
            <a:avLst>
              <a:gd name="adj" fmla="val 9459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322576"/>
            <a:ext cx="347472" cy="347472"/>
          </a:xfrm>
          <a:prstGeom prst="ellipse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15798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Zero-calibration and low-calibration operation is still an open problem.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66928" y="2944368"/>
            <a:ext cx="5989320" cy="676656"/>
          </a:xfrm>
          <a:prstGeom prst="roundRect">
            <a:avLst>
              <a:gd name="adj" fmla="val 9459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3108960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294436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are lightweight but limited in modelling long-range temporal structure.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5989320" cy="676656"/>
          </a:xfrm>
          <a:prstGeom prst="roundRect">
            <a:avLst>
              <a:gd name="adj" fmla="val 9459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3895344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373075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capture global relationships but cost more and need more data.</a:t>
            </a:r>
            <a:endParaRPr lang="en-US" sz="1180" dirty="0"/>
          </a:p>
        </p:txBody>
      </p:sp>
      <p:pic>
        <p:nvPicPr>
          <p:cNvPr id="21" name="Image 0" descr="fig/f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72768"/>
            <a:ext cx="4690872" cy="2269777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903720" y="4590288"/>
            <a:ext cx="4690872" cy="1207008"/>
          </a:xfrm>
          <a:prstGeom prst="roundRect">
            <a:avLst>
              <a:gd name="adj" fmla="val 5303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23176" y="47365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illustration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123176" y="501091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CTNet is the strongest of the four within subject, yet loses 23.88 points on the four-class task when the test subject is unseen.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566928" y="4590288"/>
            <a:ext cx="5989320" cy="1207008"/>
          </a:xfrm>
          <a:prstGeom prst="roundRect">
            <a:avLst>
              <a:gd name="adj" fmla="val 5303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" y="47365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5010912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balances classification accuracy, model complexity and generalisation to new people, rather than optimising any one of them alone.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sets out to do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0020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417320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reproducible preprocessing and evaluation pipeline for BCI Competition IV Dataset 2a.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60020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417320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EEGNet, ATCNet, CTNet and EEG Conformer as baselines under one identical protocol.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66928" y="2715768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2898648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2715768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hybrid model combining the convolutional front end of EEGNet with the attention mechanisms of the other three.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172200" y="2715768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2898648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715768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every model using leave-one-subject-out cross-validation.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566928" y="4014216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4197096"/>
            <a:ext cx="365760" cy="365760"/>
          </a:xfrm>
          <a:prstGeom prst="ellipse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4014216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Cohen's kappa, precision, recall and F1-score, per subject and averaged.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172200" y="4014216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4197096"/>
            <a:ext cx="365760" cy="365760"/>
          </a:xfrm>
          <a:prstGeom prst="ellipse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1656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4014216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parameter count and computational cost alongside accuracy.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566928" y="5349240"/>
            <a:ext cx="11027664" cy="786384"/>
          </a:xfrm>
          <a:prstGeom prst="roundRect">
            <a:avLst>
              <a:gd name="adj" fmla="val 8140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" y="534924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objective is to report whether the proposed combination improves cross-subject performance while remaining lightweight — and to report it either way.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BCI Competition IV Dataset 2a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channels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left hand, right hand, feet, tongue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per subject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on different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Trials per subject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labelled trials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to 4.0 s after cue (875 samples)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2245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all four surveyed papers evaluate on it, so our baseline implementations can be checked against published values.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motor imagery classes</a:t>
            </a:r>
            <a:endParaRPr lang="en-US" sz="1250" dirty="0"/>
          </a:p>
        </p:txBody>
      </p:sp>
      <p:pic>
        <p:nvPicPr>
          <p:cNvPr id="8" name="Image 0" descr="fig/f_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737360"/>
            <a:ext cx="5330952" cy="15496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63640" y="3401568"/>
            <a:ext cx="5330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activates a different region of the sensorimotor cortex. Hand imagery appears on the opposite side of the head, foot imagery near the midline.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66928" y="5074920"/>
            <a:ext cx="11027664" cy="1005840"/>
          </a:xfrm>
          <a:prstGeom prst="roundRect">
            <a:avLst>
              <a:gd name="adj" fmla="val 6364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nine subjects, leave-one-subject-out gives nine folds — enough for a mean, a standard deviation and a paired test, but not enough to treat any single fold as reliable on its own.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EEG to a predicted movement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fig/f_sys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11027664" cy="31507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796681"/>
            <a:ext cx="5422392" cy="1234440"/>
          </a:xfrm>
          <a:prstGeom prst="roundRect">
            <a:avLst>
              <a:gd name="adj" fmla="val 5185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4942985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 extraction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5253881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and separable convolution, adapted from EEGNet. Learns spatial filters at very low parameter cost.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4796681"/>
            <a:ext cx="5422392" cy="1234440"/>
          </a:xfrm>
          <a:prstGeom prst="roundRect">
            <a:avLst>
              <a:gd name="adj" fmla="val 5185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1656" y="4942985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attention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91656" y="5253881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self-attention, adapted from ATCNet, CTNet and EEG Conformer. Relates distant parts of the trial.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pipeline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fig/f_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98448"/>
            <a:ext cx="9509760" cy="28727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45508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16966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Band-pass 4–38 Hz, epoch 0.5–4.0 s, alignment, normalisation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for every model, so differences come from the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Convolutional block followed by windowed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learned part of the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Subject-independent, validation on a held-out subject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selecting hyperparameters that favour within-subject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Nine folds, each with a different unseen test subject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what a new user would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per subject, plus a paired statistical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Averages alone hide failures on individual subjects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published baselines and the proposed model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2514600"/>
                <a:gridCol w="2423160"/>
                <a:gridCol w="2249424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our experiments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(2018)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CNN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small; trains reliably on limited data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long-range temporal modelling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bound on model size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(2023)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attention + TCN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applied locally, suits short trials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Considerably larger than EEGNet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the windowed attention idea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Conformer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(2023)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Transformer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self-attention with interpretability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Costly; needs augmentation to train well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for convolution-then-attention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Transformer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reported within-subject accuracy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drop under subject-independent testing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the research gap quantitatively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HCT-Net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windowed attention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the components above at 20,996 parameters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evaluated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under investigation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13892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accuracies follow on the next slide, split by protocol: cross-subject results measured under one shared protocol, and within-subject figures that come from different protocols and cannot be ranked against each other.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RESULTS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results, split by protocol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8016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Cross-subject: one protocol for all (Zhao et al., 2024)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053328" y="1280160"/>
            <a:ext cx="5541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Within-subject: different protocols, not comparable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50749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14884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 person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ShallowConvNet+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56.75 ± 13.77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DeepConvNet+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60.15 ± 12.71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56.85 ± 15.82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Conformer+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53.41 ± 17.08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58.64 ± 14.61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3328" y="1691640"/>
          <a:ext cx="554126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43000"/>
                <a:gridCol w="2843784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person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Zhao et al.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Conformer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Authors' repository, hold-out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Paper, subject-dependent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 repository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 repository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Zhao et al. (2024), re-implemented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66928" y="4754880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Cross-subject: each subject held out in turn, trained on the other eight for 600 epochs on the 2–6 s window, no alignment and no fine-tuning on the held-out subject. + marks baselines re-implemented by the CTNet authors under the same conditions. This is the reference for our own cross-subject results.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Leave-one-subject-out evaluation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fig/f_loso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261872"/>
            <a:ext cx="10378440" cy="33122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830172"/>
            <a:ext cx="2670048" cy="1024128"/>
          </a:xfrm>
          <a:prstGeom prst="roundRect">
            <a:avLst>
              <a:gd name="adj" fmla="val 6250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9581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52416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standard deviation over nine folds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410712" y="4830172"/>
            <a:ext cx="2670048" cy="1024128"/>
          </a:xfrm>
          <a:prstGeom prst="roundRect">
            <a:avLst>
              <a:gd name="adj" fmla="val 6250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93592" y="49581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593592" y="52416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for chance agreement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254496" y="4830172"/>
            <a:ext cx="2670048" cy="1024128"/>
          </a:xfrm>
          <a:prstGeom prst="roundRect">
            <a:avLst>
              <a:gd name="adj" fmla="val 6250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37376" y="49581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37376" y="52416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Macro-averaged over the four classes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9098280" y="4830172"/>
            <a:ext cx="2670048" cy="1024128"/>
          </a:xfrm>
          <a:prstGeom prst="roundRect">
            <a:avLst>
              <a:gd name="adj" fmla="val 6250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81160" y="49581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and time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281160" y="52416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complexity and computational cost</a:t>
            </a:r>
            <a:endParaRPr lang="en-US" sz="108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9640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Wilcoxon signed-rank test, paired across the nine subjects, is used to decide whether a difference between two models is meaningful. Results are reported per subject as well as averaged.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AND NOVELTY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expect, and what is actually new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422392" cy="3246120"/>
          </a:xfrm>
          <a:prstGeom prst="roundRect">
            <a:avLst>
              <a:gd name="adj" fmla="val 1972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874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generalisation to unseen subjects than the heavier baselines</a:t>
            </a:r>
            <a:endParaRPr lang="en-US" sz="116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24780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motor imagery classification accuracy</a:t>
            </a:r>
            <a:endParaRPr lang="en-US" sz="116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30815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architecture — 20,996 parameters, about one fifth the size of ATCNet</a:t>
            </a:r>
            <a:endParaRPr lang="en-US" sz="116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36850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dependence on subject-specific calibration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6172200" y="1325880"/>
            <a:ext cx="5422392" cy="3246120"/>
          </a:xfrm>
          <a:prstGeom prst="roundRect">
            <a:avLst>
              <a:gd name="adj" fmla="val 1972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8232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contributes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874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all four architectures under one identical LOSO protocol</a:t>
            </a:r>
            <a:endParaRPr lang="en-US" sz="116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4780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lightweight combination, with attention depth reduced to suit the dataset size</a:t>
            </a:r>
            <a:endParaRPr lang="en-US" sz="116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0815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component-wise study showing what each part contributes to cross-subject accuracy</a:t>
            </a:r>
            <a:endParaRPr lang="en-US" sz="116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6850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measured against parameter count under a single protocol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566928" y="4754880"/>
            <a:ext cx="11027664" cy="1143000"/>
          </a:xfrm>
          <a:prstGeom prst="roundRect">
            <a:avLst>
              <a:gd name="adj" fmla="val 5600"/>
            </a:avLst>
          </a:prstGeom>
          <a:solidFill>
            <a:srgbClr val="122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49011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expected outcomes, not results.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519379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experiments have been run at this stage. The individual components are all taken from published work; what is proposed is the particular combination, the subject-independent evaluation, and the study of what each component contributes.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3, 16 SEPTEMBER TO 3 OCTOBER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plan and conclusion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fig/f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280160"/>
            <a:ext cx="8778240" cy="35910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109002"/>
            <a:ext cx="11027664" cy="1325880"/>
          </a:xfrm>
          <a:prstGeom prst="roundRect">
            <a:avLst>
              <a:gd name="adj" fmla="val 4828"/>
            </a:avLst>
          </a:prstGeom>
          <a:solidFill>
            <a:srgbClr val="EFF3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" y="525530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556620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survey identified a specific, measurable gap: cross-subject accuracy falls sharply, and closing it currently costs model size. Phase 2 turns that into an implementable plan — one dataset, five models, one evaluation protocol, and a fixed schedule. The plan is deliberately front-loaded, so that the pipeline and baselines are verified before the proposed model is written.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2026-09-19T05:21:51Z</dcterms:created>
  <dcterms:modified xsi:type="dcterms:W3CDTF">2026-09-19T05:21:51Z</dcterms:modified>
</cp:coreProperties>
</file>